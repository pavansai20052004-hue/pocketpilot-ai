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28795e258f24601" /><Relationship Type="http://schemas.openxmlformats.org/officeDocument/2006/relationships/extended-properties" Target="/docProps/app.xml" Id="R039be143e0024887" /><Relationship Type="http://schemas.openxmlformats.org/officeDocument/2006/relationships/officeDocument" Target="/ppt/presentation.xml" Id="R11467431378041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272f1414f04160"/>
  </p:sldMasterIdLst>
  <p:notesMasterIdLst>
    <p:notesMasterId xmlns:r="http://schemas.openxmlformats.org/officeDocument/2006/relationships" r:id="R7e148d3bbb804072"/>
  </p:notesMasterIdLst>
  <p:sldIdLst>
    <p:sldId xmlns:r="http://schemas.openxmlformats.org/officeDocument/2006/relationships" id="256" r:id="R3e9a961ff06c49c3"/>
    <p:sldId xmlns:r="http://schemas.openxmlformats.org/officeDocument/2006/relationships" id="257" r:id="Rba435a4bdd064d1f"/>
    <p:sldId xmlns:r="http://schemas.openxmlformats.org/officeDocument/2006/relationships" id="258" r:id="R2ba52d2f772a4f41"/>
    <p:sldId xmlns:r="http://schemas.openxmlformats.org/officeDocument/2006/relationships" id="259" r:id="Rab01e114ae9f4022"/>
    <p:sldId xmlns:r="http://schemas.openxmlformats.org/officeDocument/2006/relationships" id="260" r:id="R8f96677d0550400c"/>
    <p:sldId xmlns:r="http://schemas.openxmlformats.org/officeDocument/2006/relationships" id="261" r:id="Rdeacd6af2766462c"/>
    <p:sldId xmlns:r="http://schemas.openxmlformats.org/officeDocument/2006/relationships" id="262" r:id="R5596246627d54f84"/>
    <p:sldId xmlns:r="http://schemas.openxmlformats.org/officeDocument/2006/relationships" id="263" r:id="R9b0b3f9816b7402a"/>
    <p:sldId xmlns:r="http://schemas.openxmlformats.org/officeDocument/2006/relationships" id="264" r:id="R0774484bc13a44ae"/>
    <p:sldId xmlns:r="http://schemas.openxmlformats.org/officeDocument/2006/relationships" id="265" r:id="R797630466f9748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356b7ffdf194a05" /><Relationship Type="http://schemas.openxmlformats.org/officeDocument/2006/relationships/slideMaster" Target="/ppt/slideMasters/slideMaster1.xml" Id="R80272f1414f04160" /><Relationship Type="http://schemas.openxmlformats.org/officeDocument/2006/relationships/notesMaster" Target="/ppt/notesMasters/notesMaster1.xml" Id="R7e148d3bbb804072" /><Relationship Type="http://schemas.openxmlformats.org/officeDocument/2006/relationships/presProps" Target="/ppt/presProps.xml" Id="Ra21ebf24b3194ca3" /><Relationship Type="http://schemas.openxmlformats.org/officeDocument/2006/relationships/tableStyles" Target="/ppt/tableStyles.xml" Id="Rede04dc905da4c3f" /><Relationship Type="http://schemas.openxmlformats.org/officeDocument/2006/relationships/slide" Target="/ppt/slides/slide1.xml" Id="R3e9a961ff06c49c3" /><Relationship Type="http://schemas.openxmlformats.org/officeDocument/2006/relationships/slide" Target="/ppt/slides/slide2.xml" Id="Rba435a4bdd064d1f" /><Relationship Type="http://schemas.openxmlformats.org/officeDocument/2006/relationships/slide" Target="/ppt/slides/slide3.xml" Id="R2ba52d2f772a4f41" /><Relationship Type="http://schemas.openxmlformats.org/officeDocument/2006/relationships/slide" Target="/ppt/slides/slide4.xml" Id="Rab01e114ae9f4022" /><Relationship Type="http://schemas.openxmlformats.org/officeDocument/2006/relationships/slide" Target="/ppt/slides/slide5.xml" Id="R8f96677d0550400c" /><Relationship Type="http://schemas.openxmlformats.org/officeDocument/2006/relationships/slide" Target="/ppt/slides/slide6.xml" Id="Rdeacd6af2766462c" /><Relationship Type="http://schemas.openxmlformats.org/officeDocument/2006/relationships/slide" Target="/ppt/slides/slide7.xml" Id="R5596246627d54f84" /><Relationship Type="http://schemas.openxmlformats.org/officeDocument/2006/relationships/slide" Target="/ppt/slides/slide8.xml" Id="R9b0b3f9816b7402a" /><Relationship Type="http://schemas.openxmlformats.org/officeDocument/2006/relationships/slide" Target="/ppt/slides/slide9.xml" Id="R0774484bc13a44ae" /><Relationship Type="http://schemas.openxmlformats.org/officeDocument/2006/relationships/slide" Target="/ppt/slides/slide10.xml" Id="R797630466f9748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33d5c150b045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5306cb9beb43be" /><Relationship Type="http://schemas.openxmlformats.org/officeDocument/2006/relationships/notesMaster" Target="/ppt/notesMasters/notesMaster1.xml" Id="R82922a62e1834e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169dc4527ec4ade" /><Relationship Type="http://schemas.openxmlformats.org/officeDocument/2006/relationships/notesMaster" Target="/ppt/notesMasters/notesMaster1.xml" Id="R239f6a5f7108476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f0b420466745da" /><Relationship Type="http://schemas.openxmlformats.org/officeDocument/2006/relationships/notesMaster" Target="/ppt/notesMasters/notesMaster1.xml" Id="R6d934550c14c48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a56332277a84bed" /><Relationship Type="http://schemas.openxmlformats.org/officeDocument/2006/relationships/notesMaster" Target="/ppt/notesMasters/notesMaster1.xml" Id="R4fe106b203ce4f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898b2f9bd0c41ff" /><Relationship Type="http://schemas.openxmlformats.org/officeDocument/2006/relationships/notesMaster" Target="/ppt/notesMasters/notesMaster1.xml" Id="R83d789e2fe96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fe4da11f524350" /><Relationship Type="http://schemas.openxmlformats.org/officeDocument/2006/relationships/notesMaster" Target="/ppt/notesMasters/notesMaster1.xml" Id="R698290e5812a49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9ea90a2673435e" /><Relationship Type="http://schemas.openxmlformats.org/officeDocument/2006/relationships/notesMaster" Target="/ppt/notesMasters/notesMaster1.xml" Id="R324450ac38664b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4b876319274f95" /><Relationship Type="http://schemas.openxmlformats.org/officeDocument/2006/relationships/notesMaster" Target="/ppt/notesMasters/notesMaster1.xml" Id="Rafbbbad4ab3342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e18bdc821744ea" /><Relationship Type="http://schemas.openxmlformats.org/officeDocument/2006/relationships/notesMaster" Target="/ppt/notesMasters/notesMaster1.xml" Id="R62c8f6f2e13a44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8c9537efc64c3f" /><Relationship Type="http://schemas.openxmlformats.org/officeDocument/2006/relationships/notesMaster" Target="/ppt/notesMasters/notesMaster1.xml" Id="Rad63f94e4fc14ab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PocketPilot AI submission cover. Product-tour visual: https://pocketpilot-ai.sleek-pearl-0098.chatgpt.site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terminal image is a repository demo fixture used for the verified Python scenario.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product-tour sequence. Live tour: https://pocketpilot-ai.sleek-pearl-0098.chatgpt.site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Capabilities listed here are implemented and covered by repository validation or physical iQOO device checks.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reflects the implemented authenticated LAN bridge, local repository ownership, and local Ollama provider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Safety claims correspond to implemented protocol validation, workspace confinement, approval checks, and rollback behavior.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Counts are from the repository validation record and physical Android milestone checks completed before submission packaging.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and scenario coverage are documented in the PocketPilot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Rubric and Office Kit details follow the official iQOO Hackathon guide: https://iqoo.reskilll.com/guide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Live product tour: https://pocketpilot-ai.sleek-pearl-0098.chatgpt.site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0c94185c749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e99157b9304a30" /><Relationship Type="http://schemas.openxmlformats.org/officeDocument/2006/relationships/slideLayout" Target="/ppt/slideLayouts/slideLayout1.xml" Id="R5f0d264efd6e4f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0d264efd6e4f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4c42ae22a46c3" /><Relationship Type="http://schemas.openxmlformats.org/officeDocument/2006/relationships/image" Target="/ppt/media/image.png" Id="Rc397140b66d34ff1" /><Relationship Type="http://schemas.openxmlformats.org/officeDocument/2006/relationships/image" Target="/ppt/media/image2.png" Id="R3e4ee65a81d24938" /><Relationship Type="http://schemas.openxmlformats.org/officeDocument/2006/relationships/notesSlide" Target="/ppt/notesSlides/notesSlide1.xml" Id="R289eecf6a87b40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51e0b99c14380" /><Relationship Type="http://schemas.openxmlformats.org/officeDocument/2006/relationships/image" Target="/ppt/media/image3.png" Id="Rd3173c87fcd8424a" /><Relationship Type="http://schemas.openxmlformats.org/officeDocument/2006/relationships/notesSlide" Target="/ppt/notesSlides/notesSlide2.xml" Id="Rcd2d8d5dfb494b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59252b9a234b31" /><Relationship Type="http://schemas.openxmlformats.org/officeDocument/2006/relationships/image" Target="/ppt/media/image4.png" Id="R758b1a4687214951" /><Relationship Type="http://schemas.openxmlformats.org/officeDocument/2006/relationships/notesSlide" Target="/ppt/notesSlides/notesSlide3.xml" Id="R4eed35f795b2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9fb6f78c64812" /><Relationship Type="http://schemas.openxmlformats.org/officeDocument/2006/relationships/image" Target="/ppt/media/image5.png" Id="Reb6560161fd448a4" /><Relationship Type="http://schemas.openxmlformats.org/officeDocument/2006/relationships/notesSlide" Target="/ppt/notesSlides/notesSlide4.xml" Id="R6232c4f2b30e4a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5ab20d3154bd8" /><Relationship Type="http://schemas.openxmlformats.org/officeDocument/2006/relationships/image" Target="/ppt/media/image6.png" Id="Rf67de2c91d9044f5" /><Relationship Type="http://schemas.openxmlformats.org/officeDocument/2006/relationships/notesSlide" Target="/ppt/notesSlides/notesSlide5.xml" Id="R9e6c5cc512c64ae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9b6f7c96e485d" /><Relationship Type="http://schemas.openxmlformats.org/officeDocument/2006/relationships/image" Target="/ppt/media/image7.png" Id="R76d4fbd4b10f4e0a" /><Relationship Type="http://schemas.openxmlformats.org/officeDocument/2006/relationships/notesSlide" Target="/ppt/notesSlides/notesSlide6.xml" Id="R26224b650f7f4e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91c90ade841f5" /><Relationship Type="http://schemas.openxmlformats.org/officeDocument/2006/relationships/notesSlide" Target="/ppt/notesSlides/notesSlide7.xml" Id="R517aaf4312244d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fb84b547f64461" /><Relationship Type="http://schemas.openxmlformats.org/officeDocument/2006/relationships/notesSlide" Target="/ppt/notesSlides/notesSlide8.xml" Id="Rb09a297119984b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91b57900948d8" /><Relationship Type="http://schemas.openxmlformats.org/officeDocument/2006/relationships/notesSlide" Target="/ppt/notesSlides/notesSlide9.xml" Id="Rd08d5db3756f4c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707c479f2648ff" /><Relationship Type="http://schemas.openxmlformats.org/officeDocument/2006/relationships/image" Target="/ppt/media/image8.png" Id="R785c3b01cc314f2b" /><Relationship Type="http://schemas.openxmlformats.org/officeDocument/2006/relationships/notesSlide" Target="/ppt/notesSlides/notesSlide10.xml" Id="R1274304d63a340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0A9C4C-C939-41B1-A3B0-3AFE14FF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/>
          </a:solidFill>
          <a:ln xmlns:a="http://schemas.openxmlformats.org/drawingml/2006/main" w="0">
            <a:solidFill>
              <a:srgbClr val="05090D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97140b66d34ff1"/>
          <a:srcRect xmlns:a="http://schemas.openxmlformats.org/drawingml/2006/main" l="22656" t="0" r="2265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FE269-FE5C-4B92-9C4A-2D1E44CE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>
              <a:alpha val="93333"/>
            </a:srgbClr>
          </a:solidFill>
          <a:ln xmlns:a="http://schemas.openxmlformats.org/drawingml/2006/main" w="0">
            <a:solidFill>
              <a:srgbClr val="05090D"/>
            </a:solidFill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ee65a81d24938"/>
          <a:stretch xmlns:a="http://schemas.openxmlformats.org/drawingml/2006/main"/>
        </p:blipFill>
        <p:spPr>
          <a:xfrm xmlns:a="http://schemas.openxmlformats.org/drawingml/2006/main">
            <a:off x="609600" y="590550"/>
            <a:ext cx="666750" cy="666750"/>
          </a:xfrm>
          <a:prstGeom xmlns:a="http://schemas.openxmlformats.org/drawingml/2006/main" prst="roundRect">
            <a:avLst>
              <a:gd name="adj" fmla="val 2000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79AB6-05A0-4F96-8171-4C4B3792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85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POCKETPILOT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18C180-D2CE-48E8-98A2-80225DB3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009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PHONE CONTROL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587E97-C307-41AF-8B80-D32B939D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676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F32"/>
          </a:solidFill>
          <a:ln xmlns:a="http://schemas.openxmlformats.org/drawingml/2006/main" w="9525">
            <a:solidFill>
              <a:srgbClr val="B8FF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12CCA0-B169-45DD-BA5E-9503F2C42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9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090D"/>
                </a:solidFill>
                <a:latin typeface="Arial"/>
                <a:ea typeface="Arial"/>
                <a:cs typeface="Arial"/>
              </a:rPr>
              <a:t>DEVELOPER TOOLS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306D0-455B-411A-BCE4-9198D7D0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5334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See it.</a:t>
            </a:r>
          </a:p>
          <a:p xmlns:a="http://schemas.openxmlformats.org/drawingml/2006/main">
            <a:pPr>
              <a:defRPr sz="48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Say it.</a:t>
            </a:r>
          </a:p>
          <a:p xmlns:a="http://schemas.openxmlformats.org/drawingml/2006/main">
            <a:pPr>
              <a:defRPr sz="48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Fix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E80D9-C8C4-41DA-9540-0D3B8DEB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A phone-first, local-first developer assistant that turns visible failures into human-approved, test-verified fixes.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533AF-5E3C-4816-B390-BAE40A58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485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iQOO Hackathon 2026  |  Team Zero Day 404</a:t>
            </a:r>
          </a:p>
        </p:txBody>
      </p:sp>
    </p:spTree>
    <p:extLst>
      <p:ext uri="{BB962C8B-B14F-4D97-AF65-F5344CB8AC3E}">
        <p14:creationId xmlns:p14="http://schemas.microsoft.com/office/powerpoint/2010/main" val="21463496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34EF40-5176-4A7C-A709-429F800E8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32"/>
          </a:solidFill>
          <a:ln xmlns:a="http://schemas.openxmlformats.org/drawingml/2006/main" w="0">
            <a:solidFill>
              <a:srgbClr val="B8FF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4379C7-B422-470E-9076-3969ABEE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DA8D7-137C-42A4-9315-A21181BE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Debugging breaks when the failure is outside the 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FEEAA-86AA-4E2D-97AC-73E4CC86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65028D-103D-4943-912E-3284FD13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POCKETPILOT AI  •  ZERO DAY 404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173c87fcd8424a"/>
          <a:stretch xmlns:a="http://schemas.openxmlformats.org/drawingml/2006/main"/>
        </p:blipFill>
        <p:spPr>
          <a:xfrm xmlns:a="http://schemas.openxmlformats.org/drawingml/2006/main">
            <a:off x="609600" y="2038350"/>
            <a:ext cx="5143500" cy="3086100"/>
          </a:xfrm>
          <a:prstGeom xmlns:a="http://schemas.openxmlformats.org/drawingml/2006/main" prst="roundRect">
            <a:avLst>
              <a:gd name="adj" fmla="val 42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E2CEF-8B23-4B86-834D-A3509AE4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00200"/>
            <a:ext cx="5410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2324A8-0510-46F6-8B63-3BFFD1BA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71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075744-E46C-43C1-AA94-77E0C332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430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The error is 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2F36FA-4312-4371-A87B-4294C825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050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A terminal, another machine, or a borrowed device shows the failure.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69A21-85A1-4DC1-B221-E7D1AA88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5410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6A7CEE-668C-45DD-BC1D-9B3DBDAF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5C02D-7EAF-47EE-8F9B-AD100CA6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09562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Context is fragmented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15561-F320-4050-977B-0F4A76E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5757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Copying traces, finding files, and validating a repair becomes manual work.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DB965-A1E5-4F7A-ABF0-1A2B52F8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05300"/>
            <a:ext cx="5410200" cy="110490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DD44F9-26CD-4156-905F-28265F313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C184C7-AB3F-4D7C-8D86-191F349B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4481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Trust is the real bottleneck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24B8C3-A562-44C8-86DF-438100DD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101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Developers need evidence, a readable diff, explicit approval, and rollback.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398689-AF3F-4AC0-B7FA-EC488719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62625"/>
            <a:ext cx="541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05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PocketPilot keeps the developer in control while moving the workflow to the phone.</a:t>
            </a:r>
          </a:p>
        </p:txBody>
      </p:sp>
    </p:spTree>
    <p:extLst>
      <p:ext uri="{BB962C8B-B14F-4D97-AF65-F5344CB8AC3E}">
        <p14:creationId xmlns:p14="http://schemas.microsoft.com/office/powerpoint/2010/main" val="1681836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48D1D-C23A-4CD8-BCA5-14A642A02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32"/>
          </a:solidFill>
          <a:ln xmlns:a="http://schemas.openxmlformats.org/drawingml/2006/main" w="0">
            <a:solidFill>
              <a:srgbClr val="B8FF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5EB632-77BC-42B8-9F87-5534619F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THE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D70B6-78E6-4465-87EB-27B9DD60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One loop from visible failure to verified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3F7D9B-5199-4446-BB30-C249D18E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2FC8C-A859-458F-9D86-A46575D69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POCKETPILOT AI  •  ZERO DAY 404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b1a4687214951"/>
          <a:stretch xmlns:a="http://schemas.openxmlformats.org/drawingml/2006/main"/>
        </p:blipFill>
        <p:spPr>
          <a:xfrm xmlns:a="http://schemas.openxmlformats.org/drawingml/2006/main">
            <a:off x="2514600" y="1524000"/>
            <a:ext cx="7162800" cy="4476750"/>
          </a:xfrm>
          <a:prstGeom xmlns:a="http://schemas.openxmlformats.org/drawingml/2006/main" prst="roundRect">
            <a:avLst>
              <a:gd name="adj" fmla="val 383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A3A85A-2CBA-4A35-9B49-428FA4A2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388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F32"/>
          </a:solidFill>
          <a:ln xmlns:a="http://schemas.openxmlformats.org/drawingml/2006/main" w="9525">
            <a:solidFill>
              <a:srgbClr val="B8FF3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CE02BF-EE04-412D-99F3-2134E38B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959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9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090D"/>
                </a:solidFill>
                <a:latin typeface="Arial"/>
                <a:ea typeface="Arial"/>
                <a:cs typeface="Arial"/>
              </a:rPr>
              <a:t>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E4AFF-B5B7-4240-A47C-25AC8BB9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6388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F32"/>
          </a:solidFill>
          <a:ln xmlns:a="http://schemas.openxmlformats.org/drawingml/2006/main" w="9525">
            <a:solidFill>
              <a:srgbClr val="B8FF3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DCB2B-1F0C-4F14-BBFD-96A295E3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959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9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090D"/>
                </a:solidFill>
                <a:latin typeface="Arial"/>
                <a:ea typeface="Arial"/>
                <a:cs typeface="Arial"/>
              </a:rPr>
              <a:t>UNDERSTAND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B076B1-2C1D-4AC6-A365-0C6D6D7A2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6388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F32"/>
          </a:solidFill>
          <a:ln xmlns:a="http://schemas.openxmlformats.org/drawingml/2006/main" w="9525">
            <a:solidFill>
              <a:srgbClr val="B8FF3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89380-6DF5-4ABB-925A-1554374F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6959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9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090D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C464F-E68C-4AAC-BB33-187E3C77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63880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F32"/>
          </a:solidFill>
          <a:ln xmlns:a="http://schemas.openxmlformats.org/drawingml/2006/main" w="9525">
            <a:solidFill>
              <a:srgbClr val="B8FF3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EBC67-6694-4370-89FD-D7B99CF1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6959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9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090D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65F64-36E3-4561-8E6C-759503F05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48375"/>
            <a:ext cx="1562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Camera and 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C49E8-4163-4876-B0D8-41F4FAC1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6048375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Local model + repo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14F2DB-AB80-4099-834D-55B98ABA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Root cause + diff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FD995C-B461-450B-9258-20A4DDBC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48375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939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Tests + rollback</a:t>
            </a:r>
          </a:p>
        </p:txBody>
      </p:sp>
    </p:spTree>
    <p:extLst>
      <p:ext uri="{BB962C8B-B14F-4D97-AF65-F5344CB8AC3E}">
        <p14:creationId xmlns:p14="http://schemas.microsoft.com/office/powerpoint/2010/main" val="13078898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121D8-9E23-4121-A0C6-C5100468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32"/>
          </a:solidFill>
          <a:ln xmlns:a="http://schemas.openxmlformats.org/drawingml/2006/main" w="0">
            <a:solidFill>
              <a:srgbClr val="B8FF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48565-DA1A-4659-A6B1-F88F2FC0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PHONE-FIRST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12FFEB-F4A6-4EBA-BD2E-5757B1D3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The phone becomes the safe control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71DAD-9518-4BA6-95EE-79C42A12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54A60A-E9BE-4D24-B1DC-C69B0D9D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POCKETPILOT AI  •  ZERO DAY 404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560161fd448a4"/>
          <a:srcRect xmlns:a="http://schemas.openxmlformats.org/drawingml/2006/main" l="13634" t="0" r="13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428750"/>
            <a:ext cx="5010150" cy="4305300"/>
          </a:xfrm>
          <a:prstGeom xmlns:a="http://schemas.openxmlformats.org/drawingml/2006/main" prst="roundRect">
            <a:avLst>
              <a:gd name="adj" fmla="val 398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5C9216-77A6-422E-B448-E7375E7C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70C41-798A-46D5-9B37-D75C78FD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430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Camera scan and on-device OCR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C533A-12FA-4D03-8B6B-31BEBD490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9775"/>
            <a:ext cx="533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8B804A-08A1-4C42-9FB7-F75BC7F22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COMMAND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2CB371-B4B3-4724-9516-BFD36ED22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431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Closed-vocabulary Android voice 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67FE51-3403-4A56-AD2F-45A248E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9875"/>
            <a:ext cx="533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0899A-99A1-44FA-8E94-3E1D1A96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082A11-C695-4370-B496-4883AFF2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43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466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Root cause, evidence, bounded source, and diff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E13A35-642C-4FF0-8E45-5D10967A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9975"/>
            <a:ext cx="533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7C1B1C-6CFA-40CC-A9EC-25927A93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814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A0275E-A2EC-4315-81B8-E691434E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433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Approve, reject, inspect, verify, and undo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E01A32-6E1F-4DA8-881C-A6A29415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10075"/>
            <a:ext cx="533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BC6CE6-5ACB-40B7-BC26-2DE66734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1047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6E0D13-E647-4524-9618-719C757A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0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Status, latency, speech, and progress animation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BAB58-40F4-41E1-B221-832373A2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0175"/>
            <a:ext cx="5334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47CCB-D552-4C65-BD37-76C83DA2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626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The phone never owns arbitrary project paths. It sends bounded intent to an authenticated laptop agent.</a:t>
            </a:r>
          </a:p>
        </p:txBody>
      </p:sp>
    </p:spTree>
    <p:extLst>
      <p:ext uri="{BB962C8B-B14F-4D97-AF65-F5344CB8AC3E}">
        <p14:creationId xmlns:p14="http://schemas.microsoft.com/office/powerpoint/2010/main" val="2022550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3EF92D-F9F3-4726-866A-578E85E6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32"/>
          </a:solidFill>
          <a:ln xmlns:a="http://schemas.openxmlformats.org/drawingml/2006/main" w="0">
            <a:solidFill>
              <a:srgbClr val="B8FF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6FEF95-3C45-4F98-ADCC-04AE0BE0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LOCAL-FIRST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33591D-2A17-4F57-B7B1-8B329140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The phone directs. The laptop owns.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9B5B3-B629-4C99-8384-84F0038B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FCB83-D845-4D61-B8A1-99095002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POCKETPILOT AI  •  ZERO DAY 404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de2c91d9044f5"/>
          <a:stretch xmlns:a="http://schemas.openxmlformats.org/drawingml/2006/main"/>
        </p:blipFill>
        <p:spPr>
          <a:xfrm xmlns:a="http://schemas.openxmlformats.org/drawingml/2006/main">
            <a:off x="2628900" y="1447800"/>
            <a:ext cx="6934200" cy="4333875"/>
          </a:xfrm>
          <a:prstGeom xmlns:a="http://schemas.openxmlformats.org/drawingml/2006/main" prst="roundRect">
            <a:avLst>
              <a:gd name="adj" fmla="val 395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9F962-D475-4735-B301-DA2FF838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715000"/>
            <a:ext cx="9677400" cy="514350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0A160B"/>
          </a:solidFill>
          <a:ln xmlns:a="http://schemas.openxmlformats.org/drawingml/2006/main" w="9525">
            <a:solidFill>
              <a:srgbClr val="87D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EE842-DA10-4348-951F-5D06998C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848350"/>
            <a:ext cx="918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No source repository is uploaded to a cloud model. The selected workspace, validation command, and file boundaries remain laptop-owned.</a:t>
            </a:r>
          </a:p>
        </p:txBody>
      </p:sp>
    </p:spTree>
    <p:extLst>
      <p:ext uri="{BB962C8B-B14F-4D97-AF65-F5344CB8AC3E}">
        <p14:creationId xmlns:p14="http://schemas.microsoft.com/office/powerpoint/2010/main" val="1381965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476501-0931-4526-902A-EF426849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32"/>
          </a:solidFill>
          <a:ln xmlns:a="http://schemas.openxmlformats.org/drawingml/2006/main" w="0">
            <a:solidFill>
              <a:srgbClr val="B8FF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A8B3F-A6AE-4782-AB75-456A8998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TRUST BY CONSTRUCTION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40421-60D6-4D97-95B8-1E9D84C6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Approval is a state, not a magic word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6818A7-8BB2-4C6B-86C3-137505FC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17EF0B-311E-440C-8412-4D3F4A42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POCKETPILOT AI  •  ZERO DAY 404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4fbd4b10f4e0a"/>
          <a:srcRect xmlns:a="http://schemas.openxmlformats.org/drawingml/2006/main" l="10320" t="0" r="103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1428750"/>
            <a:ext cx="5200650" cy="4095750"/>
          </a:xfrm>
          <a:prstGeom xmlns:a="http://schemas.openxmlformats.org/drawingml/2006/main" prst="roundRect">
            <a:avLst>
              <a:gd name="adj" fmla="val 4186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EE070-5A8F-4574-A4DD-625215F4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253365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9C1EA-0A54-4397-AEDF-A1129E96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FF55E-AA91-42AB-A3A4-C4E0936A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90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Only known action shapes are accepted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8748D-AB7A-4023-98C3-8C7960841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24000"/>
            <a:ext cx="253365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997BAB-0B3D-4C80-A0FC-4F5D245C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573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BE4FA-3D81-4C3D-802A-36818FBF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85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Claims must point to bounded source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E5ABA-AF48-4F84-A0FE-0F292FFA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53365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061E2-4462-49F1-8F6A-16B5FD2A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86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CA647-BAC4-41D0-9C30-A1C9575A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Edits cannot escape the registered workspace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311EF-7731-4425-B280-ED394298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253365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58A84-320A-4DB4-BC22-36479208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HASH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557E1A-8DFD-4909-8748-14220F56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146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4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Stale proposals fail before write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B5BCBA-24F4-4DB3-99C7-7FB671233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253365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67AD63-E023-4168-9751-C3F3EFA7A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DIFF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64784C-BD1F-4B0D-88BB-DC038615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3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The exact patch is visible before 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6F372A-C42A-4051-912A-C10E418B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581400"/>
            <a:ext cx="253365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F4817E-E849-40BC-B119-3482EA3D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147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AE4C4-FBFD-45A8-98DA-8EA9E0AEA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43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3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Only allowlisted validation commands run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2EC669-FF4A-4494-90EF-2FCF9DC2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2533650" cy="819150"/>
          </a:xfrm>
          <a:prstGeom xmlns:a="http://schemas.openxmlformats.org/drawingml/2006/main" prst="roundRect">
            <a:avLst>
              <a:gd name="adj" fmla="val 17442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22A592-AD16-4D39-BD70-D56BF2B0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ROLLBACK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6ED8C-8302-47A6-8D07-AFF3EF43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720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282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Applied changes can be restored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4978694-E99B-46AB-A723-C92FF7D3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7531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Human approval stays mandatory before any file changes.</a:t>
            </a:r>
          </a:p>
        </p:txBody>
      </p:sp>
    </p:spTree>
    <p:extLst>
      <p:ext uri="{BB962C8B-B14F-4D97-AF65-F5344CB8AC3E}">
        <p14:creationId xmlns:p14="http://schemas.microsoft.com/office/powerpoint/2010/main" val="16182872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0596017-013B-44DE-A3B1-133EC492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32"/>
          </a:solidFill>
          <a:ln xmlns:a="http://schemas.openxmlformats.org/drawingml/2006/main" w="0">
            <a:solidFill>
              <a:srgbClr val="B8FF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C49B59-E09B-4A11-84B1-9C354D92C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VERIFIED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889F42-D6F2-481F-94E4-0827B9CB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Evidence, not theatre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BC91C9-C622-4B37-9A39-6F6F4788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7A6B52-B029-4D35-B5E3-D0F02FD8A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POCKETPILOT AI  •  ZERO DAY 404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F19CA-47DC-4357-A457-406E0FFE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333375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101D14"/>
          </a:solidFill>
          <a:ln xmlns:a="http://schemas.openxmlformats.org/drawingml/2006/main" w="9525">
            <a:solidFill>
              <a:srgbClr val="87D9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889EB-48BF-482E-AE3A-190E5325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811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33C03-4B35-4BA5-9FB6-1E874FA5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DEMO TESTS PASSED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8B6AB-82C4-4DA3-B629-AD9A291F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14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Python missing-user repair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954EB2-6BAB-4AFE-ADEE-170D176D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71625"/>
            <a:ext cx="333375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101D14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AE0DF-6ABC-47EC-B20C-FC5DD657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7811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7 / 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C022C-1FE0-43F1-AC96-70782DED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71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REAL OLLAMA CYCLES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D83136-23AD-463D-B615-0BB5CDDC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14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Python scenarios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21001-0002-406F-B414-55969EC18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333375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101D14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631169-AF98-415C-8E67-FCE67AC6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78117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130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3E78A-CE2A-4047-88CE-1CE16F5A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71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BACKEND TESTS PASSED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1E562-F647-4435-94E9-64EE7BF8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146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4 environment skips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88DD62-668D-4FC4-BCF0-B5BA79B33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333375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CFE7E7-AF55-48D1-BC5B-63A6C403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149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8523F0-8CDB-4493-A387-504F978E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71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JAVASCRIPT TESTS PASSED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F4EA78-3A75-4698-9C27-CD86D059E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4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Desktop, mobile, shared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6F1647-14C3-45FC-AFEC-DE8DFB3C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71875"/>
            <a:ext cx="333375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53690D-D98F-493E-9AC4-81A3C6E7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814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21 / 21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D2CCE5-666C-4A87-933D-93C083FB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71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EXPO DOCTOR CHECKS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5966C1-963B-4BC2-8F9C-8F3A307CB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14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Native project health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4F96B9-A1AA-419E-9ED7-7DFBF64C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71875"/>
            <a:ext cx="3333750" cy="1695450"/>
          </a:xfrm>
          <a:prstGeom xmlns:a="http://schemas.openxmlformats.org/drawingml/2006/main" prst="roundRect">
            <a:avLst>
              <a:gd name="adj" fmla="val 11236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7CFEC3-E82A-473C-B552-5FE26106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814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44FFD9-448E-49C0-9F04-8A80AB86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719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PHYSICAL IQOO DEVICE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C5B475-03CC-4C89-A26A-E87DF1F1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14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Full apply, verify, undo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B2A4A48-94A5-4105-A719-60EE2514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Also verified with WAN unavailable while the phone and laptop remained connected over the local network.</a:t>
            </a:r>
          </a:p>
        </p:txBody>
      </p:sp>
    </p:spTree>
    <p:extLst>
      <p:ext uri="{BB962C8B-B14F-4D97-AF65-F5344CB8AC3E}">
        <p14:creationId xmlns:p14="http://schemas.microsoft.com/office/powerpoint/2010/main" val="2118026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F5A933-A7F6-4E21-AB61-280E46A4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32"/>
          </a:solidFill>
          <a:ln xmlns:a="http://schemas.openxmlformats.org/drawingml/2006/main" w="0">
            <a:solidFill>
              <a:srgbClr val="B8FF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C892F2-5450-4ACE-932A-B6FAB10C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TECHNICAL DEPTH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ED8CD-0AB9-4086-8556-58DA71D1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A real mobile, backend, protocol, and local-AI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790C23-E95B-4369-BE96-1AC6F814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329D4-5101-4C2E-9AA8-F6436102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POCKETPILOT AI  •  ZERO DAY 404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C4514-FD87-4524-A773-B4895301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1D14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DF7F93-5A22-47C1-A2C1-A28595AA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716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F9EDE-2FA3-48B5-83A4-939C36210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478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ANDROID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F14EB-6140-4239-AB50-A016AE7D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145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React Native + Expo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9A051-E692-47F1-862E-49B13A9FA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33550"/>
            <a:ext cx="706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Camera, on-device OCR, speech service, review, approval, progress, undo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B1995C-E9B5-4DAB-844F-D3FE2FCB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109728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1623DC-F549-4F44-AB90-5B0132E5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0B33F1-8B17-4D0F-A43D-766B6774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717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LAPTOP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B01924-C09B-4927-AA40-8662FADF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384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FastAPI + SQLite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E916F-B632-4CA7-9874-089CEE9B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706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Pairing, sessions, repository context, transactional patching, verification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199F60-799D-405A-96BD-58372AC1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109728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01D14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3767CB-4AB2-4918-AEBD-19EF145A5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195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D12F7-F93D-4DF3-8714-4CE24D97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957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LOCAL MODEL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8C783E-D8C0-4F0E-860B-1FAFA15A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6242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Ollama + qwen3-coder:30b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25E015-1825-4ED9-980E-B9267946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81450"/>
            <a:ext cx="706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Root-cause analysis and structured repair proposals without cloud repo upload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028BEC-BE4C-4411-827B-5439BBA8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B8B478-F52E-4DB9-94BB-2C48EFF8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9FF2FD-B2C9-420E-AB65-D2C1BAB5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196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TRUST PROTOCOL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5B61F7-86DF-4029-96B0-FF814CD6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286375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Authenticated WebSocket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D0AAD-092C-45CD-B555-B28D42B83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05400"/>
            <a:ext cx="7067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Bounded commands, replay resistance, evidence checks, state-aware approval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06D6E0-61D6-4B32-A258-F572D109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Registered demos cover Python, Java, and React/TypeScript scenarios.</a:t>
            </a:r>
          </a:p>
        </p:txBody>
      </p:sp>
    </p:spTree>
    <p:extLst>
      <p:ext uri="{BB962C8B-B14F-4D97-AF65-F5344CB8AC3E}">
        <p14:creationId xmlns:p14="http://schemas.microsoft.com/office/powerpoint/2010/main" val="1620432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7BF12C-A964-46F4-BA54-B37D170F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FF32"/>
          </a:solidFill>
          <a:ln xmlns:a="http://schemas.openxmlformats.org/drawingml/2006/main" w="0">
            <a:solidFill>
              <a:srgbClr val="B8FF3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FD6AFE-0EFC-4959-A012-E3398C42F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HACKATHON FIT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7E2B56-F8E7-4A5E-9360-60105656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09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57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Built for usefulness, originality, execution, and presentation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B99EA-8A2C-483C-8EF7-C08DE5E7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81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14C864-CF34-4EDE-B4C0-223CFE4B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778"/>
          </a:bodyPr>
          <a:lstStyle xmlns:a="http://schemas.openxmlformats.org/drawingml/2006/main"/>
          <a:p xmlns:a="http://schemas.openxmlformats.org/drawingml/2006/main">
            <a:pPr>
              <a:defRPr sz="67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POCKETPILOT AI  •  ZERO DAY 404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56BCFD-013D-4DF9-ABBF-7746C6A0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8115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F95E3-6908-4CEE-B404-F659C606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4763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USEFULNESS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29600-F2BD-462E-BA7E-5AA1C024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7430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Shortens a fragmented debugging workflow while keeping the user in control.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B0F30D-3C88-412F-9011-8B489FB2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28850"/>
            <a:ext cx="923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6C9C19-EFF1-46CE-A286-84CC5FC2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9555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BB820-C83C-436F-8167-477DA5F3C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3907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ORIGINALITY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602278-08C1-43C0-AF1B-29FC2B560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6574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A phone-first approval and evidence surface for local developer automation.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58753-050C-4750-B013-42EC36AE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143250"/>
            <a:ext cx="923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3FD4A-26C6-48D5-AE6F-7A09D05D7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FD497-94C6-404F-B21E-0FD2B526E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3051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EXECUTION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B7BC10-773B-418B-B520-8E554590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718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Working mobile app, authenticated bridge, local model, patching, tests, and rollback.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46789E-A91C-498E-8DD1-60F1D36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57650"/>
            <a:ext cx="923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58FC95-36D1-40D4-AD95-4F3EFB25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15%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7391C-561E-4BCC-928E-36975B51E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2195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PRESENTATION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142E4E-55A0-4236-B41D-ED7D2F66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862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A single clear story with visible proof at every stage.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DEE5BB-A6F3-45F8-A1DB-7DA378A7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72050"/>
            <a:ext cx="923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1BA426-4783-4AA0-B28D-16AC38AE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819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10%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9E629-CBC9-40E0-B5E5-EE11DE623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339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A6B0A7"/>
                </a:solidFill>
                <a:latin typeface="Arial"/>
                <a:ea typeface="Arial"/>
                <a:cs typeface="Arial"/>
              </a:rPr>
              <a:t>OFFICE KIT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A57F64-F1A1-42B9-8198-8C07514F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400675"/>
            <a:ext cx="923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Use the supplied kit for screen mirror, clipboard, file transfer, and remote control during the event.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FA200D-C48C-4FEF-9BDA-788BCCCA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886450"/>
            <a:ext cx="9239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B3A2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E8B9E6-E809-490F-9CAA-A05233A07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51D0C"/>
          </a:solidFill>
          <a:ln xmlns:a="http://schemas.openxmlformats.org/drawingml/2006/main" w="9525">
            <a:solidFill>
              <a:srgbClr val="5A452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BC3755-4F42-4CFB-B14B-295301EF0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3C969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3C969"/>
                </a:solidFill>
                <a:latin typeface="Arial"/>
                <a:ea typeface="Arial"/>
                <a:cs typeface="Arial"/>
              </a:rPr>
              <a:t>Office Kit is used as an official cross-device productivity tool. No unsupported vendor API integration is claimed.</a:t>
            </a:r>
          </a:p>
        </p:txBody>
      </p:sp>
    </p:spTree>
    <p:extLst>
      <p:ext uri="{BB962C8B-B14F-4D97-AF65-F5344CB8AC3E}">
        <p14:creationId xmlns:p14="http://schemas.microsoft.com/office/powerpoint/2010/main" val="22770248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90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5c3b01cc314f2b"/>
          <a:srcRect xmlns:a="http://schemas.openxmlformats.org/drawingml/2006/main" l="21354" t="0" r="2135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0" y="0"/>
            <a:ext cx="6286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C4B24-8FFD-4026-8660-6E913A27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42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090D">
              <a:alpha val="96078"/>
            </a:srgbClr>
          </a:solidFill>
          <a:ln xmlns:a="http://schemas.openxmlformats.org/drawingml/2006/main" w="0">
            <a:solidFill>
              <a:srgbClr val="05090D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9F555-DDCB-4562-A0C4-918804A1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752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8FF32"/>
          </a:solidFill>
          <a:ln xmlns:a="http://schemas.openxmlformats.org/drawingml/2006/main" w="9525">
            <a:solidFill>
              <a:srgbClr val="B8FF3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0D56BA-C673-48AB-835A-8993C572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5090D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5090D"/>
                </a:solidFill>
                <a:latin typeface="Arial"/>
                <a:ea typeface="Arial"/>
                <a:cs typeface="Arial"/>
              </a:rPr>
              <a:t>READY FOR PHASE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683B95-6BD8-43E2-BB1F-285A1FA3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5334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From visible failure</a:t>
            </a:r>
          </a:p>
          <a:p xmlns:a="http://schemas.openxmlformats.org/drawingml/2006/main">
            <a:pPr>
              <a:defRPr sz="3375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to verified outcome.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A8257-9106-4C25-BEA7-C9852507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4714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A6B0A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6B0A7"/>
                </a:solidFill>
                <a:latin typeface="Arial"/>
                <a:ea typeface="Arial"/>
                <a:cs typeface="Arial"/>
              </a:rPr>
              <a:t>Scan the failure. Understand it locally. Review the exact change. Approve it deliberately. Verify it with real tests.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24ED2-D14C-4781-A74F-A54C010B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4572000" cy="838200"/>
          </a:xfrm>
          <a:prstGeom xmlns:a="http://schemas.openxmlformats.org/drawingml/2006/main" prst="roundRect">
            <a:avLst>
              <a:gd name="adj" fmla="val 20455"/>
            </a:avLst>
          </a:prstGeom>
          <a:solidFill xmlns:a="http://schemas.openxmlformats.org/drawingml/2006/main">
            <a:srgbClr val="0C1610"/>
          </a:solidFill>
          <a:ln xmlns:a="http://schemas.openxmlformats.org/drawingml/2006/main" w="9525">
            <a:solidFill>
              <a:srgbClr val="87D91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30B96-2E96-48FB-9BF4-3598F67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339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667"/>
          </a:bodyPr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LIVE PRODUCT TOUR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73E1EC-9D32-41C1-8402-EFDFED31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8160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71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6F8F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6F8F4"/>
                </a:solidFill>
                <a:latin typeface="Arial"/>
                <a:ea typeface="Arial"/>
                <a:cs typeface="Arial"/>
              </a:rPr>
              <a:t>pocketpilot-ai.sleek-pearl-0098.chatgpt.site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C8849-2EA9-4AD7-8C87-B456592E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722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B8FF32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B8FF32"/>
                </a:solidFill>
                <a:latin typeface="Arial"/>
                <a:ea typeface="Arial"/>
                <a:cs typeface="Arial"/>
              </a:rPr>
              <a:t>TEAM ZERO DAY 404  •  IQOO HACKATHON 2026</a:t>
            </a:r>
          </a:p>
        </p:txBody>
      </p:sp>
    </p:spTree>
    <p:extLst>
      <p:ext uri="{BB962C8B-B14F-4D97-AF65-F5344CB8AC3E}">
        <p14:creationId xmlns:p14="http://schemas.microsoft.com/office/powerpoint/2010/main" val="14056328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2026-09-09T19:25:01.5490000Z</dcterms:created>
  <dcterms:modified xsi:type="dcterms:W3CDTF">2026-09-09T19:25:01.5490000Z</dcterms:modified>
</coreProperties>
</file>